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6" r:id="rId4"/>
    <p:sldId id="267" r:id="rId5"/>
    <p:sldId id="268" r:id="rId6"/>
    <p:sldId id="269" r:id="rId7"/>
    <p:sldId id="280" r:id="rId8"/>
    <p:sldId id="265" r:id="rId9"/>
    <p:sldId id="278" r:id="rId10"/>
    <p:sldId id="270" r:id="rId11"/>
    <p:sldId id="271" r:id="rId12"/>
    <p:sldId id="272" r:id="rId13"/>
    <p:sldId id="281" r:id="rId14"/>
    <p:sldId id="277" r:id="rId15"/>
    <p:sldId id="275" r:id="rId16"/>
    <p:sldId id="276" r:id="rId17"/>
    <p:sldId id="279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60D55-24D0-024A-98E1-A51C6B1E46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66A8E-5432-184C-AC14-4E06EAFED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0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add Notes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B186-CD88-7205-4050-53512EAD1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75D77-53E9-8CED-BE39-C306B99BE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5E2D8-5628-410D-67BA-EB11DFD0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0607-7DA3-0723-E20F-1E0D9958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AAC02-4C5C-BD8C-D919-D98E80AE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6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EB982-2075-360F-732A-4386714EA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9EAA-D0B9-FAF4-9141-AA4D9AEF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E3F24-2172-6073-2CA9-EE60BD64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8E2D-9ED9-92E5-D0EA-AE432E72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043B0-F0E3-66F4-4880-CC8BF109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F2BE-F176-ABAB-66AD-96E14BC3F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34259-E539-1945-C4B6-E09B1C96A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5ACE-B1FC-4451-452E-E15A81B5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44BD6-E46C-544E-9928-7190423DD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FC8E8-518B-8003-88EA-A969D71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55EF-E133-C16A-D8FF-8B1A3EF8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D53EA-1785-3E86-4FBD-A0DD69941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1763-7BF6-333A-C7B6-7452BA71D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99E3A-F0AA-8D8A-07EB-E9767AF1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BF798-B873-741F-B43D-69843C5B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A2D76-6A1F-D153-D983-E97E0100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3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C8A0-EEAD-5A02-97C4-233752171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67A8E-AFD4-26AE-0EB0-BE76C8A20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33835-59BC-C4BD-8A5A-FD650F5B4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6E6CCA-03E4-0D3D-20DC-3B9E9D8CD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BA922B-E78A-DD99-25E0-9A87E809A0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10AF8-774A-15CB-08B7-98BA16927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94C36-6EC3-E826-3012-B6F3C530E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47DA0-DD18-2B46-EBC0-655F41E9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B45D-CDE1-20E5-625F-FE9FE753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B758C4-B08B-A645-A141-9408119F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A3F66-D9F7-E926-D1E7-A101E094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23C64-8291-D87D-81D8-D50DE8D4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19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367FC-F82C-5A21-BC7A-980F72FF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5B97E3-4253-9B97-8694-A44B1C97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B185D-E956-44E3-F583-F952CE1E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FA01-4A0F-752B-88A4-2E3602FFD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46C57-15E0-1275-9359-8085B3133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2CCC9-9495-B93C-E3C5-375350E09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1DF27-EC12-8507-3E15-8F3C4A1D8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8C757-9504-90E4-D374-60597F12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C2F27-5EDD-8769-1159-7853BC37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1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9690-2E9D-A3A9-4327-ED38AB488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FF753-3BD6-FA9E-F18B-A777FB55C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24BF2-68E6-D8E5-9BEA-6B4A25191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626FF-B727-5D80-8E7D-A6B39CA3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E24D0-F90A-718B-0D07-E3CBDEE6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C6DAD-6995-FD4D-0608-497BA979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9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EB7C-FF41-F0A8-64C2-F36F8A04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6A3AE-3B08-E41F-8582-816C5192C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CA237-73B1-351C-0AF1-1D52059B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6E1CC-089B-5ECA-481C-20FEA54B1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B1F36-00C5-D377-1C3F-4A3F37FE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9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9DBE0-2DCE-9F16-9C1A-19C0298B2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B9F79-7197-A5C5-1E6E-43E0409BA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0ECE-5A40-7705-2CD3-B78772A7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C6E62-E154-DEC4-C886-F6CEF546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067FF-C594-1CAD-60AD-DE1D8C66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89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1360" cy="502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B40CD6C-3639-4818-A219-B83508870DA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530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74BA2-F819-2641-F0CF-4EC380FDE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221D5-3DC9-17E6-D490-B996ADA69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F568E-A9FD-05C5-574F-ACD5046FB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60D7-1DD0-934A-8736-BA2B923CBC8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2384C-CBCA-257D-64FB-043D2FB0F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2B20-A477-AB0E-0FAB-D486A1447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5ABD3-3916-D740-A258-777E635B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256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8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7160" cy="5153400"/>
          </a:xfrm>
          <a:custGeom>
            <a:avLst/>
            <a:gdLst>
              <a:gd name="textAreaLeft" fmla="*/ 0 w 4637160"/>
              <a:gd name="textAreaRight" fmla="*/ 4638600 w 4637160"/>
              <a:gd name="textAreaTop" fmla="*/ 0 h 5153400"/>
              <a:gd name="textAreaBottom" fmla="*/ 5154840 h 515340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pic>
        <p:nvPicPr>
          <p:cNvPr id="59" name="Picture 4"/>
          <p:cNvPicPr/>
          <p:nvPr/>
        </p:nvPicPr>
        <p:blipFill>
          <a:blip r:embed="rId3"/>
          <a:srcRect r="59916"/>
          <a:stretch/>
        </p:blipFill>
        <p:spPr>
          <a:xfrm>
            <a:off x="6854760" y="1715760"/>
            <a:ext cx="3202200" cy="342468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1389600" y="300240"/>
            <a:ext cx="8533080" cy="17510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567"/>
              </a:spcBef>
              <a:tabLst>
                <a:tab pos="0" algn="l"/>
              </a:tabLst>
            </a:pPr>
            <a:r>
              <a:rPr lang="en-IN" sz="283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Digital Twin for CO₂ Capture in Urban Settings</a:t>
            </a:r>
            <a:endParaRPr lang="en-IN" sz="28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475200" y="-368930"/>
            <a:ext cx="10361880" cy="192377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accent1">
                    <a:lumMod val="75000"/>
                  </a:schemeClr>
                </a:solidFill>
                <a:latin typeface="Garamond"/>
                <a:ea typeface="ＭＳ Ｐゴシック"/>
              </a:rPr>
              <a:t>SMART INDIA HACKATHON 2025</a:t>
            </a:r>
            <a:endParaRPr lang="en-IN" sz="4000" b="0" strike="noStrike" spc="-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62" name="TextBox 9"/>
          <p:cNvSpPr/>
          <p:nvPr/>
        </p:nvSpPr>
        <p:spPr>
          <a:xfrm>
            <a:off x="331199" y="1157760"/>
            <a:ext cx="7336425" cy="5516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ID - </a:t>
            </a:r>
            <a:r>
              <a:rPr lang="en-IN" sz="2400" b="1" spc="-1" dirty="0">
                <a:solidFill>
                  <a:schemeClr val="accent5">
                    <a:lumMod val="75000"/>
                  </a:schemeClr>
                </a:solidFill>
                <a:latin typeface="Arial"/>
                <a:ea typeface="ＭＳ Ｐゴシック"/>
              </a:rPr>
              <a:t>SIH25222</a:t>
            </a: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Title - </a:t>
            </a:r>
            <a:r>
              <a:rPr lang="en-IN" sz="2400" b="1" spc="-1" dirty="0">
                <a:solidFill>
                  <a:schemeClr val="accent5">
                    <a:lumMod val="75000"/>
                  </a:schemeClr>
                </a:solidFill>
                <a:latin typeface="Arial"/>
                <a:ea typeface="ＭＳ Ｐゴシック"/>
              </a:rPr>
              <a:t>Digital Twin for </a:t>
            </a: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b="1" spc="-1" dirty="0">
                <a:solidFill>
                  <a:schemeClr val="accent5">
                    <a:lumMod val="75000"/>
                  </a:schemeClr>
                </a:solidFill>
                <a:latin typeface="Arial"/>
                <a:ea typeface="ＭＳ Ｐゴシック"/>
              </a:rPr>
              <a:t>   CO₂ Capture in Urban Settings</a:t>
            </a: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Theme - </a:t>
            </a:r>
            <a:r>
              <a:rPr lang="en-IN" sz="2400" b="1" spc="-1" dirty="0">
                <a:solidFill>
                  <a:schemeClr val="accent5">
                    <a:lumMod val="75000"/>
                  </a:schemeClr>
                </a:solidFill>
                <a:latin typeface="Arial"/>
                <a:ea typeface="ＭＳ Ｐゴシック"/>
              </a:rPr>
              <a:t>Clean &amp; Green Technology</a:t>
            </a: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PS Category - </a:t>
            </a:r>
            <a:r>
              <a:rPr lang="en-US" sz="2400" b="1" spc="-1" dirty="0">
                <a:solidFill>
                  <a:schemeClr val="accent5">
                    <a:lumMod val="75000"/>
                  </a:schemeClr>
                </a:solidFill>
                <a:latin typeface="Arial"/>
                <a:ea typeface="ＭＳ Ｐゴシック"/>
              </a:rPr>
              <a:t>Software</a:t>
            </a:r>
            <a:endParaRPr lang="en-IN" sz="2400" b="1" spc="-1" dirty="0">
              <a:solidFill>
                <a:schemeClr val="accent5">
                  <a:lumMod val="75000"/>
                </a:schemeClr>
              </a:solidFill>
              <a:latin typeface="Arial"/>
              <a:ea typeface="ＭＳ Ｐゴシック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ID - </a:t>
            </a:r>
            <a:r>
              <a:rPr lang="en-US" sz="2400" b="1" spc="-1" dirty="0">
                <a:solidFill>
                  <a:schemeClr val="accent5">
                    <a:lumMod val="75000"/>
                  </a:schemeClr>
                </a:solidFill>
                <a:latin typeface="Arial"/>
                <a:ea typeface="ＭＳ Ｐゴシック"/>
              </a:rPr>
              <a:t>67595</a:t>
            </a:r>
            <a:endParaRPr lang="en-IN" sz="2400" b="1" spc="-1" dirty="0">
              <a:solidFill>
                <a:schemeClr val="accent5">
                  <a:lumMod val="75000"/>
                </a:schemeClr>
              </a:solidFill>
              <a:latin typeface="Arial"/>
              <a:ea typeface="ＭＳ Ｐゴシック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Name (Registered on portal) - </a:t>
            </a:r>
            <a:r>
              <a:rPr lang="en-US" sz="2400" b="1" spc="-1" dirty="0" err="1">
                <a:solidFill>
                  <a:schemeClr val="accent5">
                    <a:lumMod val="75000"/>
                  </a:schemeClr>
                </a:solidFill>
                <a:latin typeface="Arial"/>
                <a:ea typeface="ＭＳ Ｐゴシック"/>
              </a:rPr>
              <a:t>MindSpire</a:t>
            </a:r>
            <a:endParaRPr lang="en-IN" sz="2400" b="1" spc="-1" dirty="0">
              <a:solidFill>
                <a:schemeClr val="accent5">
                  <a:lumMod val="75000"/>
                </a:schemeClr>
              </a:solidFill>
              <a:latin typeface="Arial"/>
              <a:ea typeface="ＭＳ Ｐゴシック"/>
            </a:endParaRPr>
          </a:p>
        </p:txBody>
      </p:sp>
      <p:pic>
        <p:nvPicPr>
          <p:cNvPr id="63" name="Picture 2" descr="https://www.sih.gov.in/img1/SIH-Logo.png"/>
          <p:cNvPicPr/>
          <p:nvPr/>
        </p:nvPicPr>
        <p:blipFill>
          <a:blip r:embed="rId4"/>
          <a:stretch/>
        </p:blipFill>
        <p:spPr>
          <a:xfrm>
            <a:off x="9841320" y="6120"/>
            <a:ext cx="2207520" cy="112140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8A70B6-1EF5-92FB-7BA9-3F1F75CA4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EF20D8-3433-719C-1D01-1CBB2580A004}"/>
              </a:ext>
            </a:extLst>
          </p:cNvPr>
          <p:cNvSpPr txBox="1"/>
          <p:nvPr/>
        </p:nvSpPr>
        <p:spPr>
          <a:xfrm>
            <a:off x="96253" y="1251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3768"/>
            <a:ext cx="9144000" cy="950495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This System Does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221" y="2322094"/>
            <a:ext cx="9508959" cy="3056022"/>
          </a:xfrm>
        </p:spPr>
        <p:txBody>
          <a:bodyPr>
            <a:normAutofit/>
          </a:bodyPr>
          <a:lstStyle/>
          <a:p>
            <a:pPr indent="35877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live environmental data on a map.</a:t>
            </a:r>
          </a:p>
          <a:p>
            <a:pPr indent="35877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Fetches pollution data from Open-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&amp; Open Weather Map.</a:t>
            </a:r>
          </a:p>
          <a:p>
            <a:pPr indent="35877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simulate positive/negative interventions on the city map.</a:t>
            </a:r>
          </a:p>
          <a:p>
            <a:pPr indent="35877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Projected Pollutant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reduction.</a:t>
            </a:r>
          </a:p>
          <a:p>
            <a:pPr indent="35877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 secure login with Google + Firebase authentication.</a:t>
            </a:r>
          </a:p>
          <a:p>
            <a:pPr indent="35877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simulation data securely in Firebase.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0ABF71-B0C1-2291-372E-2E2E427CD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6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4393"/>
            <a:ext cx="9144000" cy="1260058"/>
          </a:xfrm>
        </p:spPr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5895" y="2269792"/>
            <a:ext cx="6007768" cy="262706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Engine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MapLibre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Fonts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Fonts (Roboto)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+ Auth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EAA3F-9D23-6B65-4F59-8D689DABB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3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7041"/>
            <a:ext cx="9144000" cy="1115679"/>
          </a:xfrm>
        </p:spPr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UI Structure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6821" y="2272339"/>
            <a:ext cx="3938337" cy="3826042"/>
          </a:xfrm>
        </p:spPr>
        <p:txBody>
          <a:bodyPr>
            <a:norm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Left Panel (Analytics):</a:t>
            </a:r>
          </a:p>
          <a:p>
            <a:pPr indent="2667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location</a:t>
            </a:r>
          </a:p>
          <a:p>
            <a:pPr indent="2667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pollutant layer</a:t>
            </a:r>
          </a:p>
          <a:p>
            <a:pPr indent="2667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pollutant level</a:t>
            </a:r>
          </a:p>
          <a:p>
            <a:pPr indent="2667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Projected pollutant level</a:t>
            </a:r>
          </a:p>
          <a:p>
            <a:pPr indent="2667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AQI breakdown</a:t>
            </a:r>
          </a:p>
          <a:p>
            <a:pPr indent="2667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CO₂ reduction card</a:t>
            </a:r>
          </a:p>
          <a:p>
            <a:pPr indent="2667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status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917650-8177-27DC-AA8E-7290B904D59C}"/>
              </a:ext>
            </a:extLst>
          </p:cNvPr>
          <p:cNvSpPr txBox="1"/>
          <p:nvPr/>
        </p:nvSpPr>
        <p:spPr>
          <a:xfrm>
            <a:off x="6729665" y="2249906"/>
            <a:ext cx="4283242" cy="212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Panel (Interventions):</a:t>
            </a:r>
          </a:p>
          <a:p>
            <a:pPr indent="2222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interventions</a:t>
            </a:r>
          </a:p>
          <a:p>
            <a:pPr indent="2222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interventions</a:t>
            </a:r>
          </a:p>
          <a:p>
            <a:pPr indent="2222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Sliders + drag-and-drop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567300-F7DE-8D1C-6E22-067BE2F44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96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7199"/>
            <a:ext cx="9144000" cy="1007395"/>
          </a:xfrm>
        </p:spPr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Architecture 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0117" y="2076753"/>
            <a:ext cx="7645532" cy="416908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API – Open-</a:t>
            </a:r>
            <a:r>
              <a:rPr lang="en-IN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endParaRPr lang="en-IN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PM2.5</a:t>
            </a: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PM10</a:t>
            </a: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NO₂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Secondary API </a:t>
            </a:r>
            <a:r>
              <a:rPr lang="en-IN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OpenWeatherMap (With API Key)</a:t>
            </a:r>
            <a:endParaRPr lang="en-IN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only when primary API fails.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Dual APIs?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 real time and uninterrupted data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one provider</a:t>
            </a:r>
          </a:p>
          <a:p>
            <a:endParaRPr lang="en-US" dirty="0"/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50534-02DB-70A3-D117-B82A5C7C2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40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4227"/>
            <a:ext cx="9144000" cy="995363"/>
          </a:xfrm>
        </p:spPr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Keys Required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51333"/>
            <a:ext cx="7896726" cy="4905878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Key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fallback real-time air pollution data.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Firebase Web App Keys</a:t>
            </a: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APIKey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AuthDomain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rojectId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databaseURL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storageBucket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messagingSenderId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appId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keys are required to initialize the secure Firebase backend.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3672FB-CF1E-8AAD-96DE-5875D1EDA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2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922" y="474710"/>
            <a:ext cx="10076153" cy="16042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services being used to get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 to real-time data and map.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EDCD5E-517E-8970-19AD-E95586015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135970"/>
              </p:ext>
            </p:extLst>
          </p:nvPr>
        </p:nvGraphicFramePr>
        <p:xfrm>
          <a:off x="838199" y="2531327"/>
          <a:ext cx="10515600" cy="34680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68048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08565740"/>
                    </a:ext>
                  </a:extLst>
                </a:gridCol>
              </a:tblGrid>
              <a:tr h="578005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/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3790676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 Rendering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MapLibre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GL 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5976805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Map Tiles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OpenFreeMap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(OSM)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7662728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Street Map Nominatim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856348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AQI / Pollution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Open-Meteo (Primary)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550723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Backup AQI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OpenWeatherMap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(Fallback)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2853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995D5E6-175B-5A70-C0E3-827623C51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86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3136"/>
            <a:ext cx="9144000" cy="1055521"/>
          </a:xfrm>
        </p:spPr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596" y="1684420"/>
            <a:ext cx="9545053" cy="5173580"/>
          </a:xfrm>
        </p:spPr>
        <p:txBody>
          <a:bodyPr>
            <a:norm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Login Works</a:t>
            </a:r>
          </a:p>
          <a:p>
            <a:pPr marL="311150" lvl="1" indent="311150" algn="l">
              <a:buFont typeface="Arial" panose="020B0604020202020204" pitchFamily="34" charset="0"/>
              <a:buChar char="•"/>
            </a:pPr>
            <a:r>
              <a:rPr lang="en-IN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 Firebase Authentication.</a:t>
            </a:r>
          </a:p>
          <a:p>
            <a:pPr marL="311150" lvl="1" indent="311150" algn="l">
              <a:buFont typeface="Arial" panose="020B0604020202020204" pitchFamily="34" charset="0"/>
              <a:buChar char="•"/>
            </a:pPr>
            <a:r>
              <a:rPr lang="en-IN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authenticate using Google Sign-In.</a:t>
            </a:r>
          </a:p>
          <a:p>
            <a:pPr marL="311150" lvl="1" indent="311150" algn="l">
              <a:buFont typeface="Arial" panose="020B0604020202020204" pitchFamily="34" charset="0"/>
              <a:buChar char="•"/>
            </a:pPr>
            <a:r>
              <a:rPr lang="en-IN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receives a secure token, verifies identity.</a:t>
            </a:r>
          </a:p>
          <a:p>
            <a:pPr marL="311150" lvl="1" indent="311150" algn="l">
              <a:buFont typeface="Arial" panose="020B0604020202020204" pitchFamily="34" charset="0"/>
              <a:buChar char="•"/>
            </a:pPr>
            <a:r>
              <a:rPr lang="en-IN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manual password is handled by the app → secure &amp; encrypted.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 </a:t>
            </a:r>
          </a:p>
          <a:p>
            <a:pPr marL="311150" lvl="1" indent="35718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account </a:t>
            </a:r>
            <a:r>
              <a:rPr lang="en-IN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still password-protected, but the passwor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 is handled by Google securely.</a:t>
            </a:r>
          </a:p>
          <a:p>
            <a:pPr marL="654050" lvl="1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login panel requires:</a:t>
            </a:r>
          </a:p>
          <a:p>
            <a:pPr marL="311150" lvl="1" algn="l"/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Identity verification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password (indirectly)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(if enabled)</a:t>
            </a:r>
          </a:p>
          <a:p>
            <a:pPr marL="654050" lvl="1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credentials are stored in your application → high security.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5AC23-1436-5068-C5F9-0B343827F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36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9389"/>
            <a:ext cx="9144000" cy="971300"/>
          </a:xfrm>
        </p:spPr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B1853D0-0621-E682-D6AF-9C7F02DD4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0077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266700" indent="3556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access</a:t>
            </a:r>
          </a:p>
          <a:p>
            <a:pPr marL="266700" indent="3556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verified users can save simulations</a:t>
            </a:r>
          </a:p>
          <a:p>
            <a:pPr marL="266700" indent="3556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Avoids risk of storing plaintext passwords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F0C37-A286-BCC1-F711-46DA1CAFB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12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5167"/>
            <a:ext cx="9144000" cy="947237"/>
          </a:xfrm>
        </p:spPr>
        <p:txBody>
          <a:bodyPr>
            <a:normAutofit/>
          </a:bodyPr>
          <a:lstStyle/>
          <a:p>
            <a:r>
              <a:rPr lang="en-IN" sz="6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53B88-F879-1B90-AC2F-A11145CACBF1}"/>
              </a:ext>
            </a:extLst>
          </p:cNvPr>
          <p:cNvSpPr txBox="1"/>
          <p:nvPr/>
        </p:nvSpPr>
        <p:spPr>
          <a:xfrm>
            <a:off x="1763813" y="1755641"/>
            <a:ext cx="9485212" cy="5868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rules allow only authenticated users</a:t>
            </a:r>
          </a:p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writes require valid Firebase Auth token</a:t>
            </a:r>
          </a:p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or external </a:t>
            </a:r>
            <a:r>
              <a:rPr lang="en-I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tampering</a:t>
            </a:r>
          </a:p>
          <a:p>
            <a:pPr marL="85725" lvl="1" indent="180975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don’t blindly trust the API</a:t>
            </a:r>
          </a:p>
          <a:p>
            <a:pPr marL="85725" lvl="2" indent="180975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though Open-Meteo is a reliable source, we treat every API response as untrusted.</a:t>
            </a:r>
          </a:p>
          <a:p>
            <a:pPr marL="85725" lvl="1" indent="180975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 checking – stopping “name instead of number”</a:t>
            </a:r>
          </a:p>
          <a:p>
            <a:pPr marL="85725" lvl="2" indent="180975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pollution value must be a number.</a:t>
            </a:r>
          </a:p>
          <a:p>
            <a:pPr marL="85725" lvl="2" indent="180975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 checking – stopping unrealistic values(EPA-Enviromental Protection Agency)</a:t>
            </a:r>
          </a:p>
          <a:p>
            <a:pPr marL="85725" lvl="2" indent="180975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– catching sudden spikes</a:t>
            </a:r>
          </a:p>
          <a:p>
            <a:pPr marL="85725" lvl="2" indent="180975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is ensured by hashing.</a:t>
            </a:r>
          </a:p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19063-7536-1EED-D2B7-7A347A58E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5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3453"/>
            <a:ext cx="9144000" cy="950494"/>
          </a:xfrm>
        </p:spPr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Interventions Engine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1622" y="1816768"/>
            <a:ext cx="3553326" cy="4728411"/>
          </a:xfrm>
        </p:spPr>
        <p:txBody>
          <a:bodyPr>
            <a:normAutofit/>
          </a:bodyPr>
          <a:lstStyle/>
          <a:p>
            <a:pPr marL="177800"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Interventions</a:t>
            </a:r>
          </a:p>
          <a:p>
            <a:pPr marL="311150" indent="-3000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Timber construction</a:t>
            </a:r>
          </a:p>
          <a:p>
            <a:pPr marL="311150" indent="-3000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 cement</a:t>
            </a:r>
          </a:p>
          <a:p>
            <a:pPr marL="311150" indent="-3000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Retrofitting</a:t>
            </a:r>
          </a:p>
          <a:p>
            <a:pPr marL="311150" indent="-3000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</a:t>
            </a:r>
          </a:p>
          <a:p>
            <a:pPr marL="311150" indent="-3000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adoption</a:t>
            </a:r>
          </a:p>
          <a:p>
            <a:pPr marL="311150" indent="-3000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greening</a:t>
            </a:r>
          </a:p>
          <a:p>
            <a:pPr marL="311150" indent="-3000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CCS</a:t>
            </a:r>
          </a:p>
          <a:p>
            <a:pPr marL="222250" algn="l"/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Negative Interventions</a:t>
            </a:r>
          </a:p>
          <a:p>
            <a:pPr marL="311150" indent="-300038" algn="l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Parali</a:t>
            </a: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burning</a:t>
            </a: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46C82-DE03-CBC0-C8E9-BB0A1FAC892F}"/>
              </a:ext>
            </a:extLst>
          </p:cNvPr>
          <p:cNvSpPr txBox="1"/>
          <p:nvPr/>
        </p:nvSpPr>
        <p:spPr>
          <a:xfrm>
            <a:off x="6723647" y="1816768"/>
            <a:ext cx="4439653" cy="2636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07975">
              <a:lnSpc>
                <a:spcPct val="90000"/>
              </a:lnSpc>
              <a:spcBef>
                <a:spcPts val="1000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Each intervention includes:</a:t>
            </a:r>
          </a:p>
          <a:p>
            <a:pPr marL="47625" indent="352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CO₂ reduction</a:t>
            </a:r>
          </a:p>
          <a:p>
            <a:pPr marL="47625" indent="352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pollution reduction</a:t>
            </a:r>
          </a:p>
          <a:p>
            <a:pPr marL="47625" indent="352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Slider input</a:t>
            </a:r>
          </a:p>
          <a:p>
            <a:pPr marL="47625" indent="352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Drag-and-drop placement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C1BEF1-3CA0-153C-50ED-DCC59FC7D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88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32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1443" y="577723"/>
            <a:ext cx="9861884" cy="1004554"/>
          </a:xfrm>
        </p:spPr>
        <p:txBody>
          <a:bodyPr>
            <a:normAutofit fontScale="90000"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Drag &amp; Drop Impact Simulation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4106" y="2159999"/>
            <a:ext cx="5321970" cy="2786564"/>
          </a:xfrm>
        </p:spPr>
        <p:txBody>
          <a:bodyPr>
            <a:norm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indent="2746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Drag intervention → drop on map</a:t>
            </a:r>
          </a:p>
          <a:p>
            <a:pPr indent="2746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visual “impact radius”</a:t>
            </a:r>
          </a:p>
          <a:p>
            <a:pPr marL="47625" indent="263525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 changes update calculations in real-time</a:t>
            </a:r>
          </a:p>
          <a:p>
            <a:pPr indent="274638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interventions can be placed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05C66-E374-4A83-8161-3CBCAC67E022}"/>
              </a:ext>
            </a:extLst>
          </p:cNvPr>
          <p:cNvSpPr txBox="1"/>
          <p:nvPr/>
        </p:nvSpPr>
        <p:spPr>
          <a:xfrm>
            <a:off x="7072808" y="2159999"/>
            <a:ext cx="4319337" cy="226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recalculates:</a:t>
            </a:r>
          </a:p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AQI</a:t>
            </a:r>
          </a:p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pollutant level</a:t>
            </a:r>
          </a:p>
          <a:p>
            <a:pPr indent="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CO₂ reduction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0736C6-4079-ADA5-04F9-FB7E373D0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9423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17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897" y="479434"/>
            <a:ext cx="8943474" cy="935205"/>
          </a:xfrm>
        </p:spPr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Status Panel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629577-5B18-7617-933C-CC98A4F31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916931"/>
              </p:ext>
            </p:extLst>
          </p:nvPr>
        </p:nvGraphicFramePr>
        <p:xfrm>
          <a:off x="149514" y="1676131"/>
          <a:ext cx="5448399" cy="4702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2171">
                  <a:extLst>
                    <a:ext uri="{9D8B030D-6E8A-4147-A177-3AD203B41FA5}">
                      <a16:colId xmlns:a16="http://schemas.microsoft.com/office/drawing/2014/main" val="231374402"/>
                    </a:ext>
                  </a:extLst>
                </a:gridCol>
                <a:gridCol w="1140180">
                  <a:extLst>
                    <a:ext uri="{9D8B030D-6E8A-4147-A177-3AD203B41FA5}">
                      <a16:colId xmlns:a16="http://schemas.microsoft.com/office/drawing/2014/main" val="1982768388"/>
                    </a:ext>
                  </a:extLst>
                </a:gridCol>
                <a:gridCol w="1760486">
                  <a:extLst>
                    <a:ext uri="{9D8B030D-6E8A-4147-A177-3AD203B41FA5}">
                      <a16:colId xmlns:a16="http://schemas.microsoft.com/office/drawing/2014/main" val="2814625191"/>
                    </a:ext>
                  </a:extLst>
                </a:gridCol>
                <a:gridCol w="1435562">
                  <a:extLst>
                    <a:ext uri="{9D8B030D-6E8A-4147-A177-3AD203B41FA5}">
                      <a16:colId xmlns:a16="http://schemas.microsoft.com/office/drawing/2014/main" val="1557756998"/>
                    </a:ext>
                  </a:extLst>
                </a:gridCol>
              </a:tblGrid>
              <a:tr h="5855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1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1600" b="1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1" kern="10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endParaRPr lang="en-IN" sz="1600" b="1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1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</a:t>
                      </a:r>
                      <a:endParaRPr lang="en-IN" sz="1600" b="1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1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Means</a:t>
                      </a:r>
                      <a:endParaRPr lang="en-IN" sz="1600" b="1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10081"/>
                  </a:ext>
                </a:extLst>
              </a:tr>
              <a:tr h="585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Fetching</a:t>
                      </a:r>
                      <a:endParaRPr lang="en-IN" sz="16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🔵 Blue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"Fetching live data from API..."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in progress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060183"/>
                  </a:ext>
                </a:extLst>
              </a:tr>
              <a:tr h="8828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</a:t>
                      </a:r>
                      <a:endParaRPr lang="en-IN" sz="16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Green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"Live data verified"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validations passed</a:t>
                      </a:r>
                      <a:endParaRPr lang="en-IN" sz="16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938838"/>
                  </a:ext>
                </a:extLst>
              </a:tr>
              <a:tr h="8828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Warning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🟡 Yellow</a:t>
                      </a:r>
                      <a:endParaRPr lang="en-IN" sz="16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"Live data (verification warning)"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Anomaly detected but data accepted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351119"/>
                  </a:ext>
                </a:extLst>
              </a:tr>
              <a:tr h="8828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</a:t>
                      </a:r>
                      <a:endParaRPr lang="en-IN" sz="16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🔴 Red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"API timeout (attempt 1/3)"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failed, retrying</a:t>
                      </a:r>
                      <a:endParaRPr lang="en-IN" sz="16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635792"/>
                  </a:ext>
                </a:extLst>
              </a:tr>
              <a:tr h="8828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Fallback</a:t>
                      </a:r>
                      <a:endParaRPr lang="en-IN" sz="16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🟣 Purple</a:t>
                      </a:r>
                      <a:endParaRPr lang="en-IN" sz="16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"Using fallback data (API unavailable)"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388870" algn="l"/>
                        </a:tabLst>
                      </a:pPr>
                      <a:r>
                        <a:rPr lang="en-IN" sz="16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baseline values</a:t>
                      </a:r>
                      <a:endParaRPr lang="en-IN" sz="16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72792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10632C9-494B-A3EE-E6E9-7FFB6E5D3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188" y="1676130"/>
            <a:ext cx="6295536" cy="47024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C491DC-0B95-8C8A-DB4F-AC682ED9C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45879"/>
            <a:ext cx="9144000" cy="983331"/>
          </a:xfrm>
        </p:spPr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 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399" y="1623345"/>
            <a:ext cx="8610600" cy="454885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1. Password Protection (Google Login)</a:t>
            </a:r>
          </a:p>
          <a:p>
            <a:pPr lvl="1" algn="l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must sign in using Google</a:t>
            </a:r>
          </a:p>
          <a:p>
            <a:pPr lvl="1" algn="l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password protection + MFA</a:t>
            </a:r>
          </a:p>
          <a:p>
            <a:pPr lvl="1" algn="l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does not store passwords → secure by design</a:t>
            </a:r>
          </a:p>
          <a:p>
            <a:pPr algn="l">
              <a:lnSpc>
                <a:spcPct val="100000"/>
              </a:lnSpc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Database Security</a:t>
            </a:r>
          </a:p>
          <a:p>
            <a:pPr lvl="1" algn="l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 required</a:t>
            </a:r>
          </a:p>
          <a:p>
            <a:pPr lvl="1" algn="l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users cannot access simulation DB</a:t>
            </a:r>
          </a:p>
          <a:p>
            <a:pPr algn="l">
              <a:lnSpc>
                <a:spcPct val="100000"/>
              </a:lnSpc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API Security</a:t>
            </a:r>
          </a:p>
          <a:p>
            <a:pPr lvl="1" algn="l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keys stored in config, not exposed directly</a:t>
            </a:r>
          </a:p>
          <a:p>
            <a:pPr lvl="1" algn="l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 made over TLS</a:t>
            </a:r>
          </a:p>
          <a:p>
            <a:pPr lvl="1" algn="l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data encryption end-to-end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350AFB-D285-5793-7AB5-445EC4DE4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1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737" y="320466"/>
            <a:ext cx="9946105" cy="1163805"/>
          </a:xfrm>
        </p:spPr>
        <p:txBody>
          <a:bodyPr>
            <a:normAutofit fontScale="90000"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IN" sz="5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Digital Twin Is Unique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6079" y="2042108"/>
            <a:ext cx="7559841" cy="327585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API fallback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AQI &amp; CO₂ simulation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Drag-and-drop intervention engine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modelling in seconds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Firebase-secured login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history storage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password-protected authentication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0497B-B79E-2DA4-C46B-A2207CA35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3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6234" y="797312"/>
            <a:ext cx="8519531" cy="526337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Innovations</a:t>
            </a:r>
          </a:p>
          <a:p>
            <a:pPr marL="355600" indent="-133350" algn="just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Intervention sandbox drag-and-drop system</a:t>
            </a:r>
          </a:p>
          <a:p>
            <a:pPr marL="355600" indent="-133350" algn="just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Visual cause-and-effect particle engine</a:t>
            </a:r>
          </a:p>
          <a:p>
            <a:pPr marL="355600" indent="-133350" algn="just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CO₂ impact logic with simple meaning + impact + source</a:t>
            </a:r>
          </a:p>
          <a:p>
            <a:pPr marL="355600" indent="-133350" algn="just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Plug-in intervention architecture</a:t>
            </a:r>
          </a:p>
          <a:p>
            <a:pPr algn="just">
              <a:lnSpc>
                <a:spcPct val="100000"/>
              </a:lnSpc>
              <a:spcBef>
                <a:spcPts val="1000"/>
              </a:spcBef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Solutions</a:t>
            </a:r>
          </a:p>
          <a:p>
            <a:pPr marL="11113" indent="255588" algn="just">
              <a:lnSpc>
                <a:spcPct val="100000"/>
              </a:lnSpc>
              <a:spcBef>
                <a:spcPts val="1000"/>
              </a:spcBef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Drag-and-drop intervention deployment</a:t>
            </a:r>
          </a:p>
          <a:p>
            <a:pPr marL="11113" indent="255588" algn="just">
              <a:lnSpc>
                <a:spcPct val="100000"/>
              </a:lnSpc>
              <a:spcBef>
                <a:spcPts val="1000"/>
              </a:spcBef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pollution reduction particle feedback</a:t>
            </a:r>
          </a:p>
          <a:p>
            <a:pPr marL="11113" indent="255588" algn="just">
              <a:lnSpc>
                <a:spcPct val="100000"/>
              </a:lnSpc>
              <a:spcBef>
                <a:spcPts val="1000"/>
              </a:spcBef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Solution cards with meaning + impact + source</a:t>
            </a:r>
          </a:p>
          <a:p>
            <a:pPr marL="11113" indent="255588" algn="just">
              <a:lnSpc>
                <a:spcPct val="100000"/>
              </a:lnSpc>
              <a:spcBef>
                <a:spcPts val="1000"/>
              </a:spcBef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Pollution-type–specific interventions</a:t>
            </a:r>
          </a:p>
          <a:p>
            <a:pPr marL="11113" indent="255588" algn="just">
              <a:lnSpc>
                <a:spcPct val="100000"/>
              </a:lnSpc>
              <a:spcBef>
                <a:spcPts val="1000"/>
              </a:spcBef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Before/After intervention comparison mode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5783F4-9102-C00A-D7D9-A4C38D626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17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CE499-FBE3-4952-987A-73D0D1F5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23E096-B39F-73AE-8F0F-2CEFB3AC9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436" y="892029"/>
            <a:ext cx="8943474" cy="935205"/>
          </a:xfrm>
        </p:spPr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54BA-5823-A8D3-0883-E0085177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199" y="2016805"/>
            <a:ext cx="10181602" cy="437284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 scientific, real-time monitoring of urban air pollutants for evidence-based policy decisions.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ministry evaluate the impact of new technologies and interventions on CO₂ and pollutant reduction.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 digital testing environment to model future scenarios without real-world risk or cost.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national goals in Clean &amp; Green Technology, smart cities, and climate-resilient planning.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 standardized, secure, and accurate data that can guide national research, innovation, and environmental programs.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921EF-6C8A-CE08-8673-CED253077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38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E89EAE-535C-AC70-085D-23A8FF072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996" y="19051"/>
            <a:ext cx="12190502" cy="6801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F38AA13-41F3-CC5E-BE6C-D0DFD31B6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" y="75189"/>
            <a:ext cx="953460" cy="8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1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Words>908</Words>
  <Application>Microsoft Office PowerPoint</Application>
  <PresentationFormat>Widescreen</PresentationFormat>
  <Paragraphs>194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Garamond</vt:lpstr>
      <vt:lpstr>Times New Roman</vt:lpstr>
      <vt:lpstr>-webkit-standard</vt:lpstr>
      <vt:lpstr>Office Theme</vt:lpstr>
      <vt:lpstr>SMART INDIA HACKATHON 2025</vt:lpstr>
      <vt:lpstr>What This System Does</vt:lpstr>
      <vt:lpstr>Technology Stack</vt:lpstr>
      <vt:lpstr>Application UI Structure</vt:lpstr>
      <vt:lpstr>API Architecture </vt:lpstr>
      <vt:lpstr>API Keys Required</vt:lpstr>
      <vt:lpstr>API services being used to get access to real-time data and map.</vt:lpstr>
      <vt:lpstr>Firebase Authentication</vt:lpstr>
      <vt:lpstr>Firebase Authentication</vt:lpstr>
      <vt:lpstr>Security Features</vt:lpstr>
      <vt:lpstr>Interventions Engine</vt:lpstr>
      <vt:lpstr>Drag &amp; Drop Impact Simulation</vt:lpstr>
      <vt:lpstr>Data Status Panel</vt:lpstr>
      <vt:lpstr>Security Features </vt:lpstr>
      <vt:lpstr>Why Our Digital Twin Is Unique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Microsoft Office User</dc:creator>
  <cp:lastModifiedBy>Devayani Hekare</cp:lastModifiedBy>
  <cp:revision>10</cp:revision>
  <dcterms:created xsi:type="dcterms:W3CDTF">2025-12-09T07:25:55Z</dcterms:created>
  <dcterms:modified xsi:type="dcterms:W3CDTF">2025-12-09T12:00:56Z</dcterms:modified>
</cp:coreProperties>
</file>